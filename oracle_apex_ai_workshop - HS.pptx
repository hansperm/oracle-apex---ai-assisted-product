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73" r:id="rId4"/>
    <p:sldId id="294" r:id="rId5"/>
    <p:sldId id="269" r:id="rId6"/>
    <p:sldId id="268" r:id="rId7"/>
    <p:sldId id="257" r:id="rId8"/>
    <p:sldId id="258" r:id="rId9"/>
    <p:sldId id="259" r:id="rId10"/>
    <p:sldId id="260" r:id="rId11"/>
    <p:sldId id="271" r:id="rId12"/>
    <p:sldId id="261" r:id="rId13"/>
    <p:sldId id="270" r:id="rId14"/>
    <p:sldId id="262" r:id="rId15"/>
    <p:sldId id="264" r:id="rId16"/>
    <p:sldId id="279" r:id="rId17"/>
    <p:sldId id="280" r:id="rId18"/>
    <p:sldId id="263" r:id="rId19"/>
    <p:sldId id="277" r:id="rId20"/>
    <p:sldId id="278" r:id="rId21"/>
    <p:sldId id="272" r:id="rId22"/>
    <p:sldId id="274" r:id="rId23"/>
    <p:sldId id="275" r:id="rId24"/>
    <p:sldId id="276" r:id="rId25"/>
    <p:sldId id="265" r:id="rId26"/>
    <p:sldId id="266" r:id="rId27"/>
    <p:sldId id="281" r:id="rId28"/>
    <p:sldId id="282" r:id="rId29"/>
    <p:sldId id="283" r:id="rId30"/>
    <p:sldId id="284" r:id="rId31"/>
    <p:sldId id="285" r:id="rId32"/>
    <p:sldId id="287" r:id="rId33"/>
    <p:sldId id="295" r:id="rId34"/>
    <p:sldId id="288" r:id="rId35"/>
    <p:sldId id="289" r:id="rId36"/>
    <p:sldId id="290" r:id="rId37"/>
    <p:sldId id="296" r:id="rId38"/>
    <p:sldId id="297" r:id="rId39"/>
    <p:sldId id="291" r:id="rId40"/>
    <p:sldId id="298" r:id="rId41"/>
    <p:sldId id="292" r:id="rId42"/>
    <p:sldId id="293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6E4CF-3896-8AA0-37F6-585C8BF053B3}" v="1" dt="2026-04-05T07:36:07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206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el Delos Santos" userId="S::hansel.delossantos@utas.edu.om::cbfc51c0-240d-490b-b046-c791679fff8b" providerId="AD" clId="Web-{A1B6E4CF-3896-8AA0-37F6-585C8BF053B3}"/>
    <pc:docChg chg="sldOrd">
      <pc:chgData name="Hansel Delos Santos" userId="S::hansel.delossantos@utas.edu.om::cbfc51c0-240d-490b-b046-c791679fff8b" providerId="AD" clId="Web-{A1B6E4CF-3896-8AA0-37F6-585C8BF053B3}" dt="2026-04-05T07:36:07.636" v="0"/>
      <pc:docMkLst>
        <pc:docMk/>
      </pc:docMkLst>
      <pc:sldChg chg="ord">
        <pc:chgData name="Hansel Delos Santos" userId="S::hansel.delossantos@utas.edu.om::cbfc51c0-240d-490b-b046-c791679fff8b" providerId="AD" clId="Web-{A1B6E4CF-3896-8AA0-37F6-585C8BF053B3}" dt="2026-04-05T07:36:07.636" v="0"/>
        <pc:sldMkLst>
          <pc:docMk/>
          <pc:sldMk cId="3882900688" sldId="272"/>
        </pc:sldMkLst>
      </pc:sldChg>
    </pc:docChg>
  </pc:docChgLst>
  <pc:docChgLst>
    <pc:chgData name="Hansel Delos Santos" userId="S::hansel.delossantos@utas.edu.om::cbfc51c0-240d-490b-b046-c791679fff8b" providerId="AD" clId="Web-{C8E1C37A-A414-F1E0-7F15-963D950BA6CB}"/>
    <pc:docChg chg="mod addSld modSld sldOrd">
      <pc:chgData name="Hansel Delos Santos" userId="S::hansel.delossantos@utas.edu.om::cbfc51c0-240d-490b-b046-c791679fff8b" providerId="AD" clId="Web-{C8E1C37A-A414-F1E0-7F15-963D950BA6CB}" dt="2026-03-11T07:59:37.797" v="35" actId="1076"/>
      <pc:docMkLst>
        <pc:docMk/>
      </pc:docMkLst>
      <pc:sldChg chg="addSp delSp modSp add ord replId">
        <pc:chgData name="Hansel Delos Santos" userId="S::hansel.delossantos@utas.edu.om::cbfc51c0-240d-490b-b046-c791679fff8b" providerId="AD" clId="Web-{C8E1C37A-A414-F1E0-7F15-963D950BA6CB}" dt="2026-03-11T07:59:30.188" v="33" actId="20577"/>
        <pc:sldMkLst>
          <pc:docMk/>
          <pc:sldMk cId="3938107990" sldId="277"/>
        </pc:sldMkLst>
        <pc:spChg chg="mod">
          <ac:chgData name="Hansel Delos Santos" userId="S::hansel.delossantos@utas.edu.om::cbfc51c0-240d-490b-b046-c791679fff8b" providerId="AD" clId="Web-{C8E1C37A-A414-F1E0-7F15-963D950BA6CB}" dt="2026-03-11T07:59:30.188" v="33" actId="20577"/>
          <ac:spMkLst>
            <pc:docMk/>
            <pc:sldMk cId="3938107990" sldId="277"/>
            <ac:spMk id="2" creationId="{BFFC010F-1CC9-6242-6259-73DE87D05E79}"/>
          </ac:spMkLst>
        </pc:spChg>
        <pc:picChg chg="add mod ord">
          <ac:chgData name="Hansel Delos Santos" userId="S::hansel.delossantos@utas.edu.om::cbfc51c0-240d-490b-b046-c791679fff8b" providerId="AD" clId="Web-{C8E1C37A-A414-F1E0-7F15-963D950BA6CB}" dt="2026-03-11T07:57:58.530" v="16" actId="1076"/>
          <ac:picMkLst>
            <pc:docMk/>
            <pc:sldMk cId="3938107990" sldId="277"/>
            <ac:picMk id="4" creationId="{A64B1840-5CEC-D1FE-AEB8-3922460B134A}"/>
          </ac:picMkLst>
        </pc:picChg>
      </pc:sldChg>
      <pc:sldChg chg="addSp delSp modSp add replId">
        <pc:chgData name="Hansel Delos Santos" userId="S::hansel.delossantos@utas.edu.om::cbfc51c0-240d-490b-b046-c791679fff8b" providerId="AD" clId="Web-{C8E1C37A-A414-F1E0-7F15-963D950BA6CB}" dt="2026-03-11T07:59:37.797" v="35" actId="1076"/>
        <pc:sldMkLst>
          <pc:docMk/>
          <pc:sldMk cId="3992555620" sldId="278"/>
        </pc:sldMkLst>
        <pc:spChg chg="mod">
          <ac:chgData name="Hansel Delos Santos" userId="S::hansel.delossantos@utas.edu.om::cbfc51c0-240d-490b-b046-c791679fff8b" providerId="AD" clId="Web-{C8E1C37A-A414-F1E0-7F15-963D950BA6CB}" dt="2026-03-11T07:59:24.703" v="32" actId="20577"/>
          <ac:spMkLst>
            <pc:docMk/>
            <pc:sldMk cId="3992555620" sldId="278"/>
            <ac:spMk id="2" creationId="{7F874FFA-9E94-5CFA-450C-F65F2A7C88B5}"/>
          </ac:spMkLst>
        </pc:spChg>
        <pc:picChg chg="add mod ord">
          <ac:chgData name="Hansel Delos Santos" userId="S::hansel.delossantos@utas.edu.om::cbfc51c0-240d-490b-b046-c791679fff8b" providerId="AD" clId="Web-{C8E1C37A-A414-F1E0-7F15-963D950BA6CB}" dt="2026-03-11T07:59:37.797" v="35" actId="1076"/>
          <ac:picMkLst>
            <pc:docMk/>
            <pc:sldMk cId="3992555620" sldId="278"/>
            <ac:picMk id="6" creationId="{B4AAB9CA-2163-453A-73DF-6ABE1EA3E6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b1vdzy3tBA" TargetMode="External"/><Relationship Id="rId2" Type="http://schemas.openxmlformats.org/officeDocument/2006/relationships/hyperlink" Target="https://www.youtube.com/watch?v=xh3JcBARIH4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2793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/>
              <a:t>Integrating AI in Oracle APEX</a:t>
            </a:r>
            <a:br>
              <a:rPr lang="it-IT" dirty="0"/>
            </a:br>
            <a:r>
              <a:rPr lang="en-US" dirty="0"/>
              <a:t>A Developer’s Workshop on OpenAI, OCI GenAI, and Cohere</a:t>
            </a:r>
            <a:br>
              <a:rPr lang="en-US" dirty="0"/>
            </a:b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56887"/>
            <a:ext cx="8229600" cy="21323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Configuring and Utilizing OpenAI, OCI Generative AI, and Cohere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Hansel Delos Santos</a:t>
            </a:r>
          </a:p>
          <a:p>
            <a:pPr marL="0" indent="0">
              <a:buNone/>
            </a:pPr>
            <a:r>
              <a:rPr lang="en-US" dirty="0"/>
              <a:t>Certified Oracle Apex Professional</a:t>
            </a:r>
          </a:p>
          <a:p>
            <a:pPr marL="0" indent="0">
              <a:buNone/>
            </a:pPr>
            <a:r>
              <a:rPr lang="en-US" dirty="0"/>
              <a:t>Lecturer – Software Engineering Unit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April 28, 2026 | 12:00 – 2:00 PM | BSIT-17L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AC3935-C0C5-AFDE-E26C-699A8573CD56}"/>
              </a:ext>
            </a:extLst>
          </p:cNvPr>
          <p:cNvSpPr txBox="1">
            <a:spLocks/>
          </p:cNvSpPr>
          <p:nvPr/>
        </p:nvSpPr>
        <p:spPr>
          <a:xfrm>
            <a:off x="457200" y="3020587"/>
            <a:ext cx="8229600" cy="1235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Empowering APEX Developers: Integrating AI Capabilities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B947B-1B0C-00B2-4537-BD601DCA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4677093"/>
            <a:ext cx="3877056" cy="1712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05AD-A00E-A947-774E-BB169BF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070B-B758-8738-BC43-B64136CC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9CD9-393E-6AEA-83B9-23BDE7158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Goal: To enable developers to seamlessly configure and consume AI services within Oracle APEX applications.</a:t>
            </a:r>
          </a:p>
          <a:p>
            <a:r>
              <a:rPr lang="en-US" dirty="0"/>
              <a:t>Introduction: The Low-Code + AI Paradigm.</a:t>
            </a:r>
          </a:p>
          <a:p>
            <a:r>
              <a:rPr lang="en-US" dirty="0"/>
              <a:t>Prerequisites: Setup and Credentials.</a:t>
            </a:r>
          </a:p>
          <a:p>
            <a:r>
              <a:rPr lang="en-US" dirty="0"/>
              <a:t>Deep Dive: OCI Generative AI: The Native Oracle Experience.</a:t>
            </a:r>
          </a:p>
          <a:p>
            <a:r>
              <a:rPr lang="en-US" dirty="0"/>
              <a:t>Deep Dive: OpenAI: Leveraging GPT </a:t>
            </a:r>
            <a:r>
              <a:rPr lang="en-US" u="sng" dirty="0"/>
              <a:t>Generative Pre-Trained Transformer</a:t>
            </a:r>
            <a:r>
              <a:rPr lang="en-US" dirty="0"/>
              <a:t> Models.</a:t>
            </a:r>
          </a:p>
          <a:p>
            <a:r>
              <a:rPr lang="en-US" dirty="0"/>
              <a:t>Deep Dive: Cohere: Enterprise-Focused NLP.</a:t>
            </a:r>
          </a:p>
          <a:p>
            <a:r>
              <a:rPr lang="en-US" dirty="0"/>
              <a:t>APEX Implementation: Shared Components &amp; Dynamic Actions.</a:t>
            </a:r>
          </a:p>
          <a:p>
            <a:r>
              <a:rPr lang="en-US" dirty="0"/>
              <a:t>Hands-On Lab: Building an AI-Powered Assistant.</a:t>
            </a:r>
          </a:p>
          <a:p>
            <a:r>
              <a:rPr lang="en-US" dirty="0"/>
              <a:t>Best Practices: Security, Cost,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60897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71AC-3A77-FB11-454B-35E162E7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4098-E99C-3162-993C-94E104DD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8BD2-3FA3-6C15-32A0-E6C0E785D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 We Start Developing:</a:t>
            </a:r>
          </a:p>
          <a:p>
            <a:r>
              <a:rPr lang="en-US" dirty="0"/>
              <a:t>Oracle Cloud Account: Required for OCI(Oracle Cloud Infrastructure) Generative AI service.</a:t>
            </a:r>
          </a:p>
          <a:p>
            <a:r>
              <a:rPr lang="en-US" dirty="0"/>
              <a:t>API Keys:</a:t>
            </a:r>
          </a:p>
          <a:p>
            <a:pPr lvl="1"/>
            <a:r>
              <a:rPr lang="en-US" dirty="0"/>
              <a:t>OpenAI API Key (from platform.openai.com).</a:t>
            </a:r>
          </a:p>
          <a:p>
            <a:pPr lvl="1"/>
            <a:r>
              <a:rPr lang="en-US" dirty="0"/>
              <a:t>Cohere API Key (from dashboard.cohere.com).</a:t>
            </a:r>
          </a:p>
          <a:p>
            <a:r>
              <a:rPr lang="en-US" dirty="0"/>
              <a:t>APEX Environment: Version 23.2 or later (24.1 recommended for native AI features).</a:t>
            </a:r>
          </a:p>
        </p:txBody>
      </p:sp>
    </p:spTree>
    <p:extLst>
      <p:ext uri="{BB962C8B-B14F-4D97-AF65-F5344CB8AC3E}">
        <p14:creationId xmlns:p14="http://schemas.microsoft.com/office/powerpoint/2010/main" val="369507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AA4C-9E1C-E27A-3E01-EE0EB3BE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94F8-A370-9628-0D6B-C686853F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143000"/>
          </a:xfrm>
        </p:spPr>
        <p:txBody>
          <a:bodyPr>
            <a:normAutofit/>
          </a:bodyPr>
          <a:lstStyle/>
          <a:p>
            <a:r>
              <a:rPr lang="en-US" dirty="0"/>
              <a:t>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CCC6E-3B8A-8E2A-96B7-93B810EB4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15" y="1417639"/>
            <a:ext cx="3282696" cy="1691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Before We Start Developing:</a:t>
            </a:r>
          </a:p>
          <a:p>
            <a:r>
              <a:rPr lang="en-US" sz="1800" dirty="0"/>
              <a:t>platform.openai.com</a:t>
            </a:r>
          </a:p>
          <a:p>
            <a:r>
              <a:rPr lang="en-US" sz="1800" dirty="0"/>
              <a:t>dashboard.cohere.com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CCB20-15AF-1A31-6690-7AC920207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631" y="704088"/>
            <a:ext cx="2548509" cy="5513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A36344-E3D3-80E8-1279-0D6EB8BF7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2496312"/>
            <a:ext cx="5694937" cy="380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8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28A21-FBD3-C605-37A9-5FDB2732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2683-165B-DD59-39A2-DECBCB299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4E756-720D-EB85-828A-1E956DB1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47914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APEX App -&gt; Calls Generative AI Service (Shared Component).</a:t>
            </a:r>
          </a:p>
          <a:p>
            <a:r>
              <a:rPr lang="en-US" dirty="0"/>
              <a:t>Service -&gt; Uses Web Credential (Secret Key).</a:t>
            </a:r>
          </a:p>
          <a:p>
            <a:r>
              <a:rPr lang="en-US" dirty="0"/>
              <a:t>Request -&gt; Sent via HTTPS to Provider API.</a:t>
            </a:r>
          </a:p>
          <a:p>
            <a:r>
              <a:rPr lang="en-US" dirty="0"/>
              <a:t>Response -&gt; Rendered in APEX Region/Item.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r>
              <a:rPr lang="en-US" dirty="0"/>
              <a:t>User → Oracle APEX App → REST API → AI Service (OpenAI / OCI / Cohere) → Response to Application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r>
              <a:rPr lang="en-US" dirty="0"/>
              <a:t>Hard-coded </a:t>
            </a:r>
            <a:r>
              <a:rPr lang="en-US" b="1" dirty="0"/>
              <a:t>skipping APEX credentials completely</a:t>
            </a:r>
            <a:r>
              <a:rPr lang="en-US" dirty="0"/>
              <a:t> and use a </a:t>
            </a:r>
            <a:r>
              <a:rPr lang="en-US" b="1" dirty="0"/>
              <a:t>direct header workaround</a:t>
            </a:r>
            <a:r>
              <a:rPr lang="en-US" dirty="0"/>
              <a:t> that works in almost all APEX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6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0D1B-780B-5401-2AAF-AB04615F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001E-9007-4372-09E2-C87EE09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Empowering APEX Developers: Integrating AI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B8EA9-BB2F-C322-B827-0A665741A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53632"/>
          </a:xfrm>
        </p:spPr>
        <p:txBody>
          <a:bodyPr>
            <a:normAutofit/>
          </a:bodyPr>
          <a:lstStyle/>
          <a:p>
            <a:r>
              <a:rPr sz="2000" dirty="0"/>
              <a:t>Enabling Developers to Configure and Utilize AI Capabilities in Oracle APEX</a:t>
            </a:r>
          </a:p>
          <a:p>
            <a:r>
              <a:rPr sz="2000" dirty="0"/>
              <a:t>Using OpenAI, OCI Generative AI, and Cohere</a:t>
            </a:r>
          </a:p>
        </p:txBody>
      </p:sp>
      <p:pic>
        <p:nvPicPr>
          <p:cNvPr id="4100" name="Picture 4" descr="Deploy an AI-Powered Chatbot">
            <a:extLst>
              <a:ext uri="{FF2B5EF4-FFF2-40B4-BE49-F238E27FC236}">
                <a16:creationId xmlns:a16="http://schemas.microsoft.com/office/drawing/2014/main" id="{3C88D2E9-DB0C-12DF-E301-E4C5694AC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431" y="2453833"/>
            <a:ext cx="6302709" cy="418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37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 AI integration in Oracle APEX</a:t>
            </a:r>
          </a:p>
          <a:p>
            <a:r>
              <a:rPr dirty="0"/>
              <a:t>Explore OpenAI, OCI Generative AI, and Cohere</a:t>
            </a:r>
          </a:p>
          <a:p>
            <a:r>
              <a:rPr dirty="0"/>
              <a:t>Learn how to configure AI services</a:t>
            </a:r>
          </a:p>
          <a:p>
            <a:r>
              <a:rPr dirty="0"/>
              <a:t>Build AI-powered application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E3659-3920-CE91-33B3-3654D343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4599813"/>
            <a:ext cx="5019675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in Oracle APEX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APEX allows developers to integrate AI services into web applications.</a:t>
            </a:r>
          </a:p>
          <a:p>
            <a:r>
              <a:t>AI can enhance automation, decision making, and user interaction.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396E1-2EA8-552B-506F-66448479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064" y="3827331"/>
            <a:ext cx="4145871" cy="2298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Integrate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user experience</a:t>
            </a:r>
          </a:p>
          <a:p>
            <a:r>
              <a:rPr dirty="0"/>
              <a:t>Automate repetitive tasks</a:t>
            </a:r>
          </a:p>
          <a:p>
            <a:r>
              <a:rPr dirty="0"/>
              <a:t>Generate insights from data</a:t>
            </a:r>
          </a:p>
          <a:p>
            <a:r>
              <a:rPr dirty="0"/>
              <a:t>Enable intelligent chat and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96818-89B8-C902-0B13-EBA7BB58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450" y="4145470"/>
            <a:ext cx="53244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OpenAI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OpenAI APIs within APEX</a:t>
            </a:r>
          </a:p>
          <a:p>
            <a:r>
              <a:rPr dirty="0"/>
              <a:t>Generate text, summaries, and chatbot responses</a:t>
            </a:r>
          </a:p>
          <a:p>
            <a:r>
              <a:rPr dirty="0"/>
              <a:t>Connect via REST APIs</a:t>
            </a:r>
            <a:r>
              <a:rPr lang="en-US" dirty="0"/>
              <a:t> (Representational State Transfer &amp; Application Programming Interface)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8D89B-A21C-6928-0E63-C8671C51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4621595"/>
            <a:ext cx="3852291" cy="13711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FC969-2D79-C132-0A75-CCC1DD6A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274F-385D-FD6D-C467-7EE2F9E4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1 -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43EAD-843A-EF5C-1EC0-3DD7A16DF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The Industry Standard</a:t>
            </a:r>
          </a:p>
          <a:p>
            <a:r>
              <a:rPr lang="en-US" dirty="0"/>
              <a:t>Overview: Access to GPT-3.5, GPT-4, and GPT-4o models.</a:t>
            </a:r>
          </a:p>
          <a:p>
            <a:r>
              <a:rPr lang="en-US" dirty="0"/>
              <a:t>Strengths: Best general-purpose reasoning, coding assistance, and creative writing.</a:t>
            </a:r>
          </a:p>
          <a:p>
            <a:r>
              <a:rPr lang="en-US" dirty="0"/>
              <a:t>Considerations:</a:t>
            </a:r>
          </a:p>
          <a:p>
            <a:pPr lvl="1"/>
            <a:r>
              <a:rPr lang="en-US" dirty="0"/>
              <a:t>Data leaves the Oracle network.</a:t>
            </a:r>
          </a:p>
          <a:p>
            <a:pPr lvl="1"/>
            <a:r>
              <a:rPr lang="en-US" dirty="0"/>
              <a:t>Pay-per-token pricing model.</a:t>
            </a:r>
          </a:p>
          <a:p>
            <a:pPr marL="0" indent="0">
              <a:buNone/>
            </a:pPr>
            <a:r>
              <a:rPr lang="en-US" u="sng" dirty="0"/>
              <a:t>Configuration in APEX:</a:t>
            </a:r>
          </a:p>
          <a:p>
            <a:r>
              <a:rPr lang="en-US" dirty="0"/>
              <a:t>Base URL: </a:t>
            </a:r>
            <a:r>
              <a:rPr lang="en-US" b="1" dirty="0"/>
              <a:t>https://api.openai.com/v1/chat/completions</a:t>
            </a:r>
            <a:endParaRPr lang="en-US" dirty="0"/>
          </a:p>
          <a:p>
            <a:r>
              <a:rPr lang="en-US" dirty="0"/>
              <a:t>Authentication: Bearer Token (API Key).</a:t>
            </a:r>
          </a:p>
        </p:txBody>
      </p:sp>
    </p:spTree>
    <p:extLst>
      <p:ext uri="{BB962C8B-B14F-4D97-AF65-F5344CB8AC3E}">
        <p14:creationId xmlns:p14="http://schemas.microsoft.com/office/powerpoint/2010/main" val="333326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OCI Generative AI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Oracle Cloud Infrastructure provides native AI services</a:t>
            </a:r>
          </a:p>
          <a:p>
            <a:r>
              <a:rPr dirty="0"/>
              <a:t>Secure integration with Oracle ecosystem</a:t>
            </a:r>
          </a:p>
          <a:p>
            <a:r>
              <a:rPr dirty="0"/>
              <a:t>Supports enterprise-scale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993D1-1A55-7F8D-544A-AAD77091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53" y="4154995"/>
            <a:ext cx="4810125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1EA2-CFA1-A38C-B68F-C2A77921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308E-0D42-FC60-A81B-4D11F400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Provider 2 - OCI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CF270-CB18-172C-EF3F-41A1D6356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The Native Choice</a:t>
            </a:r>
          </a:p>
          <a:p>
            <a:r>
              <a:rPr lang="en-US" dirty="0"/>
              <a:t>Overview: Fully managed, serverless service within Oracle Cloud Infrastructure.</a:t>
            </a:r>
          </a:p>
          <a:p>
            <a:r>
              <a:rPr lang="en-US" dirty="0"/>
              <a:t>Key Models:</a:t>
            </a:r>
          </a:p>
          <a:p>
            <a:pPr lvl="1"/>
            <a:r>
              <a:rPr lang="en-US" dirty="0"/>
              <a:t>Llama (Large Language Mode Meta AI) 3 (Meta).</a:t>
            </a:r>
          </a:p>
          <a:p>
            <a:pPr lvl="1"/>
            <a:r>
              <a:rPr lang="en-US" dirty="0"/>
              <a:t>Cohere Command models (Hosted on OCI).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Data Privacy: Data stays within the OCI tenancy.</a:t>
            </a:r>
          </a:p>
          <a:p>
            <a:pPr lvl="1"/>
            <a:r>
              <a:rPr lang="en-US" dirty="0"/>
              <a:t>No Egress Costs: Low latency if your ADB is in the same region.</a:t>
            </a:r>
          </a:p>
          <a:p>
            <a:pPr lvl="1"/>
            <a:r>
              <a:rPr lang="en-US" dirty="0"/>
              <a:t>Dedicated AI Clusters: For high-volume, predictable performance.</a:t>
            </a:r>
          </a:p>
          <a:p>
            <a:pPr marL="0" indent="0">
              <a:buNone/>
            </a:pPr>
            <a:r>
              <a:rPr lang="en-US" u="sng" dirty="0"/>
              <a:t>Configuration Steps:</a:t>
            </a:r>
          </a:p>
          <a:p>
            <a:r>
              <a:rPr lang="en-US" dirty="0"/>
              <a:t>Enable "Generative AI" service in OCI Console.</a:t>
            </a:r>
          </a:p>
          <a:p>
            <a:r>
              <a:rPr lang="en-US" dirty="0"/>
              <a:t>Create a dedicated AI compartment and policy.</a:t>
            </a:r>
          </a:p>
        </p:txBody>
      </p:sp>
    </p:spTree>
    <p:extLst>
      <p:ext uri="{BB962C8B-B14F-4D97-AF65-F5344CB8AC3E}">
        <p14:creationId xmlns:p14="http://schemas.microsoft.com/office/powerpoint/2010/main" val="2203525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Cohere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Natural language processing</a:t>
            </a:r>
          </a:p>
          <a:p>
            <a:r>
              <a:rPr dirty="0"/>
              <a:t>Text generation</a:t>
            </a:r>
          </a:p>
          <a:p>
            <a:r>
              <a:rPr dirty="0"/>
              <a:t>Classification and semantic 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099A7-9D95-449D-6A6D-42234C9D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3863181"/>
            <a:ext cx="615315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chatbot support</a:t>
            </a:r>
          </a:p>
          <a:p>
            <a:r>
              <a:rPr dirty="0"/>
              <a:t>Automatic content generation</a:t>
            </a:r>
          </a:p>
          <a:p>
            <a:r>
              <a:rPr dirty="0"/>
              <a:t>Smart form assistance</a:t>
            </a:r>
          </a:p>
          <a:p>
            <a:r>
              <a:rPr dirty="0"/>
              <a:t>Data summarization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3917-D0EE-F0F1-CD2A-75D963E6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AEAA-9353-567E-FC57-DB26FA69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Demo -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452D9-CC25-0648-34C3-C4BCF53A0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090"/>
            <a:ext cx="8229600" cy="4795074"/>
          </a:xfrm>
        </p:spPr>
        <p:txBody>
          <a:bodyPr>
            <a:normAutofit fontScale="25000" lnSpcReduction="20000"/>
          </a:bodyPr>
          <a:lstStyle/>
          <a:p>
            <a:r>
              <a:rPr lang="en-US" sz="6200" b="1" dirty="0"/>
              <a:t>PL/SQL Block Example (OpenAI)</a:t>
            </a:r>
          </a:p>
          <a:p>
            <a:pPr marL="0" indent="0">
              <a:buNone/>
            </a:pPr>
            <a:r>
              <a:rPr lang="en-US" sz="4800" dirty="0"/>
              <a:t>declare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l_request</a:t>
            </a:r>
            <a:r>
              <a:rPr lang="en-US" sz="4800" dirty="0"/>
              <a:t>  </a:t>
            </a:r>
            <a:r>
              <a:rPr lang="en-US" sz="4800" dirty="0" err="1"/>
              <a:t>clob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l_response</a:t>
            </a:r>
            <a:r>
              <a:rPr lang="en-US" sz="4800" dirty="0"/>
              <a:t> </a:t>
            </a:r>
            <a:r>
              <a:rPr lang="en-US" sz="4800" dirty="0" err="1"/>
              <a:t>clob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begin</a:t>
            </a:r>
          </a:p>
          <a:p>
            <a:pPr marL="0" indent="0">
              <a:buNone/>
            </a:pPr>
            <a:r>
              <a:rPr lang="en-US" sz="4800" dirty="0"/>
              <a:t>    -- Construct the JSON Payload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apex_json.initialize_clob_output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apex_json.open_object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apex_json.write</a:t>
            </a:r>
            <a:r>
              <a:rPr lang="en-US" sz="4800" dirty="0"/>
              <a:t>('model', 'gpt-4o');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apex_json.open_array</a:t>
            </a:r>
            <a:r>
              <a:rPr lang="en-US" sz="4800" dirty="0"/>
              <a:t>('messages');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apex_json.open_object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apex_json.write</a:t>
            </a:r>
            <a:r>
              <a:rPr lang="en-US" sz="4800" dirty="0"/>
              <a:t>('role', 'user');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apex_json.write</a:t>
            </a:r>
            <a:r>
              <a:rPr lang="en-US" sz="4800" dirty="0"/>
              <a:t>('content', :P1_PROMPT); -- Page Item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apex_json.close_object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apex_json.close_array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apex_json.close_object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l_request</a:t>
            </a:r>
            <a:r>
              <a:rPr lang="en-US" sz="4800" dirty="0"/>
              <a:t> := </a:t>
            </a:r>
            <a:r>
              <a:rPr lang="en-US" sz="4800" dirty="0" err="1"/>
              <a:t>apex_json.get_clob_output</a:t>
            </a:r>
            <a:r>
              <a:rPr lang="en-US" sz="4800" dirty="0"/>
              <a:t>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-- Call the API</a:t>
            </a:r>
          </a:p>
          <a:p>
            <a:pPr marL="0" indent="0">
              <a:buNone/>
            </a:pPr>
            <a:r>
              <a:rPr lang="en-US" sz="4800" dirty="0"/>
              <a:t>    </a:t>
            </a:r>
            <a:r>
              <a:rPr lang="en-US" sz="4800" dirty="0" err="1"/>
              <a:t>l_response</a:t>
            </a:r>
            <a:r>
              <a:rPr lang="en-US" sz="4800" dirty="0"/>
              <a:t> := </a:t>
            </a:r>
            <a:r>
              <a:rPr lang="en-US" sz="4800" dirty="0" err="1"/>
              <a:t>apex_web_service.make_request</a:t>
            </a:r>
            <a:r>
              <a:rPr lang="en-US" sz="4800" dirty="0"/>
              <a:t>(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p_url</a:t>
            </a:r>
            <a:r>
              <a:rPr lang="en-US" sz="4800" dirty="0"/>
              <a:t>          =&gt; 'https://api.openai.com/v1/chat/completions',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p_http_method</a:t>
            </a:r>
            <a:r>
              <a:rPr lang="en-US" sz="4800" dirty="0"/>
              <a:t>  =&gt; 'POST',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p_credential_static_id</a:t>
            </a:r>
            <a:r>
              <a:rPr lang="en-US" sz="4800" dirty="0"/>
              <a:t> =&gt; 'OPENAI_CRED',</a:t>
            </a:r>
          </a:p>
          <a:p>
            <a:pPr marL="0" indent="0">
              <a:buNone/>
            </a:pPr>
            <a:r>
              <a:rPr lang="en-US" sz="4800" dirty="0"/>
              <a:t>        </a:t>
            </a:r>
            <a:r>
              <a:rPr lang="en-US" sz="4800" dirty="0" err="1"/>
              <a:t>p_body</a:t>
            </a:r>
            <a:r>
              <a:rPr lang="en-US" sz="4800" dirty="0"/>
              <a:t>         =&gt; </a:t>
            </a:r>
            <a:r>
              <a:rPr lang="en-US" sz="4800" dirty="0" err="1"/>
              <a:t>l_request</a:t>
            </a:r>
            <a:r>
              <a:rPr lang="en-US" sz="4800" dirty="0"/>
              <a:t> );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-- Parse response and set page item</a:t>
            </a:r>
          </a:p>
          <a:p>
            <a:pPr marL="0" indent="0">
              <a:buNone/>
            </a:pPr>
            <a:r>
              <a:rPr lang="en-US" sz="4800" dirty="0"/>
              <a:t>    :P1_RESPONSE := apex_json.get_varchar2(</a:t>
            </a:r>
            <a:r>
              <a:rPr lang="en-US" sz="4800" dirty="0" err="1"/>
              <a:t>p_path</a:t>
            </a:r>
            <a:r>
              <a:rPr lang="en-US" sz="4800" dirty="0"/>
              <a:t> =&gt; 'choices[1].</a:t>
            </a:r>
            <a:r>
              <a:rPr lang="en-US" sz="4800" dirty="0" err="1"/>
              <a:t>message.content</a:t>
            </a:r>
            <a:r>
              <a:rPr lang="en-US" sz="4800" dirty="0"/>
              <a:t>', </a:t>
            </a:r>
            <a:r>
              <a:rPr lang="en-US" sz="4800" dirty="0" err="1"/>
              <a:t>p_response</a:t>
            </a:r>
            <a:r>
              <a:rPr lang="en-US" sz="4800" dirty="0"/>
              <a:t> =&gt; </a:t>
            </a:r>
            <a:r>
              <a:rPr lang="en-US" sz="4800" dirty="0" err="1"/>
              <a:t>l_response</a:t>
            </a:r>
            <a:r>
              <a:rPr lang="en-US" sz="4800" dirty="0"/>
              <a:t>);</a:t>
            </a:r>
          </a:p>
          <a:p>
            <a:pPr marL="0" indent="0">
              <a:buNone/>
            </a:pPr>
            <a:r>
              <a:rPr lang="en-US" sz="4800" dirty="0"/>
              <a:t>end;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2066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7F16-D4FF-D3C1-2BDD-0EEED7F7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50D3-47A6-59CA-6202-75329B2F0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– RAG (Retrieval-Augmented Generation) with APEX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463A-4CC2-E628-F2A2-A51D249EB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Chat with your Data</a:t>
            </a:r>
          </a:p>
          <a:p>
            <a:r>
              <a:rPr lang="en-US" dirty="0"/>
              <a:t>Select Data: User selects a row in an Interactive Grid (e.g., Support Ticket).</a:t>
            </a:r>
          </a:p>
          <a:p>
            <a:r>
              <a:rPr lang="en-US" dirty="0"/>
              <a:t>Context Injection: PL/SQL process concatenates the ticket details into a System Prompt.</a:t>
            </a:r>
          </a:p>
          <a:p>
            <a:pPr lvl="1"/>
            <a:r>
              <a:rPr lang="en-US" i="1" dirty="0"/>
              <a:t>"You are a support agent. Summarize the following ticket: [Ticket Details]"</a:t>
            </a:r>
            <a:endParaRPr lang="en-US" dirty="0"/>
          </a:p>
          <a:p>
            <a:r>
              <a:rPr lang="en-US" dirty="0"/>
              <a:t>AI Generation: Send prompt to OCI GenAI or OpenAI.</a:t>
            </a:r>
          </a:p>
          <a:p>
            <a:r>
              <a:rPr lang="en-US" dirty="0"/>
              <a:t>Display: Update a rich text editor region with the AI summary.</a:t>
            </a:r>
          </a:p>
          <a:p>
            <a:pPr marL="0" indent="0">
              <a:buNone/>
            </a:pPr>
            <a:r>
              <a:rPr lang="en-US" i="1" dirty="0"/>
              <a:t>This pattern transforms static data applications into intelligent assistants.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end;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625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APEX Configuration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Setting up Shared Components</a:t>
            </a:r>
          </a:p>
          <a:p>
            <a:r>
              <a:rPr lang="en-US" dirty="0"/>
              <a:t>Step 1: Web Credentials</a:t>
            </a:r>
          </a:p>
          <a:p>
            <a:pPr lvl="1"/>
            <a:r>
              <a:rPr lang="en-US" dirty="0"/>
              <a:t>Navigate to Shared Components &gt; Web Credentials.</a:t>
            </a:r>
          </a:p>
          <a:p>
            <a:pPr lvl="1"/>
            <a:r>
              <a:rPr lang="en-US" dirty="0"/>
              <a:t>Create "</a:t>
            </a:r>
            <a:r>
              <a:rPr lang="en-US" dirty="0" err="1"/>
              <a:t>OpenAI_Cred</a:t>
            </a:r>
            <a:r>
              <a:rPr lang="en-US" dirty="0"/>
              <a:t>" / "</a:t>
            </a:r>
            <a:r>
              <a:rPr lang="en-US" dirty="0" err="1"/>
              <a:t>Cohere_Cred</a:t>
            </a:r>
            <a:r>
              <a:rPr lang="en-US" dirty="0"/>
              <a:t>".</a:t>
            </a:r>
          </a:p>
          <a:p>
            <a:pPr lvl="1"/>
            <a:r>
              <a:rPr lang="en-US" dirty="0"/>
              <a:t>Authentication Type: </a:t>
            </a:r>
            <a:r>
              <a:rPr lang="en-US" b="1" dirty="0"/>
              <a:t>Bearer Token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Paste your API Key in the password field.</a:t>
            </a:r>
          </a:p>
          <a:p>
            <a:r>
              <a:rPr lang="en-US" dirty="0"/>
              <a:t>Step 2: Generative AI Service (APEX 24.1+)</a:t>
            </a:r>
          </a:p>
          <a:p>
            <a:r>
              <a:rPr lang="en-US" dirty="0"/>
              <a:t>Navigate to Shared Components &gt; Generative AI Services.</a:t>
            </a:r>
          </a:p>
          <a:p>
            <a:r>
              <a:rPr lang="en-US" dirty="0"/>
              <a:t>Click Create.</a:t>
            </a:r>
          </a:p>
          <a:p>
            <a:r>
              <a:rPr lang="en-US" dirty="0"/>
              <a:t>Select Provider (OpenAI, OCI, Cohere).</a:t>
            </a:r>
          </a:p>
          <a:p>
            <a:r>
              <a:rPr lang="en-US" dirty="0"/>
              <a:t>Map the Web Credential created in Step 1.</a:t>
            </a:r>
          </a:p>
          <a:p>
            <a:r>
              <a:rPr lang="en-US" dirty="0"/>
              <a:t>Test the connection.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39C6-B111-E677-E943-D73DAD23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010F-1CC9-6242-6259-73DE87D0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Credentials</a:t>
            </a:r>
            <a:endParaRPr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4B1840-5CEC-D1FE-AEB8-3922460B1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440" y="1107632"/>
            <a:ext cx="7104888" cy="565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07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7F92-2609-DFF0-9814-A0C4130A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4FFA-9E94-5CFA-450C-F65F2A7C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AI Services</a:t>
            </a:r>
            <a:endParaRPr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AAB9CA-2163-453A-73DF-6ABE1EA3E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038" y="1153352"/>
            <a:ext cx="8427924" cy="550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55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4BDE-440B-CF9E-5921-669EC367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C015-0CF4-E8A7-AB78-1A38A8A0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3 - Cohere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1843-0C70-76E2-BB4D-3B379B47A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/>
              <a:t>The Enterprise Specialist</a:t>
            </a:r>
          </a:p>
          <a:p>
            <a:r>
              <a:rPr lang="en-US" dirty="0"/>
              <a:t>Overview: Specialized in enterprise-grade NLP (Natural Language Processing).</a:t>
            </a:r>
          </a:p>
          <a:p>
            <a:r>
              <a:rPr lang="en-US" dirty="0"/>
              <a:t>Key Models:</a:t>
            </a:r>
          </a:p>
          <a:p>
            <a:pPr lvl="1"/>
            <a:r>
              <a:rPr lang="en-US" dirty="0"/>
              <a:t>Command: Instruction-following text generation.</a:t>
            </a:r>
          </a:p>
          <a:p>
            <a:pPr lvl="1"/>
            <a:r>
              <a:rPr lang="en-US" dirty="0" err="1"/>
              <a:t>Rerank</a:t>
            </a:r>
            <a:r>
              <a:rPr lang="en-US" dirty="0"/>
              <a:t>: Improves search relevance (excellent for RAG).</a:t>
            </a:r>
          </a:p>
          <a:p>
            <a:pPr lvl="1"/>
            <a:r>
              <a:rPr lang="en-US" dirty="0"/>
              <a:t>Embed: Vector generation for semantic search.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Strong focus on RAG (Retrieval-Augmented Generation) workflows.</a:t>
            </a:r>
          </a:p>
          <a:p>
            <a:pPr lvl="1"/>
            <a:r>
              <a:rPr lang="en-US" dirty="0"/>
              <a:t>Available directly via Cohere API or via OCI GenAI managed service.</a:t>
            </a:r>
          </a:p>
        </p:txBody>
      </p:sp>
    </p:spTree>
    <p:extLst>
      <p:ext uri="{BB962C8B-B14F-4D97-AF65-F5344CB8AC3E}">
        <p14:creationId xmlns:p14="http://schemas.microsoft.com/office/powerpoint/2010/main" val="3882900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F8E1-A1D2-75E3-7722-5E19AB0D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30F4-A1B8-EFB4-DCB0-0F7D64D9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4DECC-1E88-35A2-3D2B-A7CA200B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78" y="1310834"/>
            <a:ext cx="7964347" cy="126718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/>
              <a:t>How to use AI in your App</a:t>
            </a:r>
          </a:p>
          <a:p>
            <a:pPr marL="0" indent="0">
              <a:buNone/>
            </a:pPr>
            <a:r>
              <a:rPr lang="en-US" sz="2400" dirty="0"/>
              <a:t>Method A: AI Assistant Dynamic Action (No Code)</a:t>
            </a:r>
          </a:p>
          <a:p>
            <a:r>
              <a:rPr lang="en-US" sz="2400" dirty="0"/>
              <a:t>Use the native "Generate Text with AI" dynamic action.</a:t>
            </a:r>
          </a:p>
          <a:p>
            <a:r>
              <a:rPr lang="en-US" sz="2400" dirty="0"/>
              <a:t>Link an input field (Prompt) to a display region.</a:t>
            </a:r>
          </a:p>
          <a:p>
            <a:r>
              <a:rPr lang="en-US" sz="2400" dirty="0"/>
              <a:t>Ideal for simple chat interfaces or text generation.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16F5BEA-8915-5742-823F-37D103275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296" y="2578020"/>
            <a:ext cx="5513408" cy="413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72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70D1A-8853-F192-898F-2BE43669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B6E7-9E14-EBF3-E801-3AD952AD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6C8D5-930E-20BD-BC02-BADD20960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143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/>
              <a:t>How to use AI in your App</a:t>
            </a:r>
          </a:p>
          <a:p>
            <a:pPr marL="0" indent="0">
              <a:buNone/>
            </a:pPr>
            <a:r>
              <a:rPr lang="en-US" sz="1800" dirty="0"/>
              <a:t>Method B: PL/SQL API (Pro Code)</a:t>
            </a:r>
          </a:p>
          <a:p>
            <a:r>
              <a:rPr lang="en-US" sz="1800" dirty="0"/>
              <a:t>Use </a:t>
            </a:r>
            <a:r>
              <a:rPr lang="en-US" sz="1800" b="1" dirty="0"/>
              <a:t>APEX_AI.GENERATE</a:t>
            </a:r>
            <a:r>
              <a:rPr lang="en-US" sz="1800" dirty="0"/>
              <a:t> (Native in 24.1).</a:t>
            </a:r>
          </a:p>
          <a:p>
            <a:r>
              <a:rPr lang="en-US" sz="1800" dirty="0"/>
              <a:t>Use </a:t>
            </a:r>
            <a:r>
              <a:rPr lang="en-US" sz="1800" b="1" dirty="0"/>
              <a:t>APEX_WEB_SERVICE.MAKE_REQUEST</a:t>
            </a:r>
            <a:r>
              <a:rPr lang="en-US" sz="1800" dirty="0"/>
              <a:t> (Custom JSON-JavaScript Object Notation handling).</a:t>
            </a:r>
          </a:p>
          <a:p>
            <a:r>
              <a:rPr lang="en-US" sz="1800" dirty="0"/>
              <a:t>Offers full control over temperature, max tokens, and system prompts.</a:t>
            </a:r>
          </a:p>
        </p:txBody>
      </p:sp>
      <p:pic>
        <p:nvPicPr>
          <p:cNvPr id="1030" name="Picture 6" descr="Unlock AI Coding: Oracle APEX AI Assistant in Oracle Database">
            <a:extLst>
              <a:ext uri="{FF2B5EF4-FFF2-40B4-BE49-F238E27FC236}">
                <a16:creationId xmlns:a16="http://schemas.microsoft.com/office/drawing/2014/main" id="{AE2C6264-731C-34A3-7C87-2175E4E46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78020"/>
            <a:ext cx="7620000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865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4AEF-E540-61EE-74B0-3C7076BF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3F23-77F3-49AB-9A41-ADE73075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53CE-6E91-CD9D-85A9-03FA7942A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How to use AI in your App</a:t>
            </a:r>
          </a:p>
          <a:p>
            <a:pPr marL="0" indent="0">
              <a:buNone/>
            </a:pPr>
            <a:r>
              <a:rPr lang="en-US" sz="1800" dirty="0"/>
              <a:t>Method C: Integrate Chatbots in you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D4C22-EBE3-4399-D9E1-5125A96BF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79" y="2201862"/>
            <a:ext cx="58769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96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Protect API keys</a:t>
            </a:r>
          </a:p>
          <a:p>
            <a:r>
              <a:rPr dirty="0"/>
              <a:t>Optimize prompts</a:t>
            </a:r>
          </a:p>
          <a:p>
            <a:r>
              <a:rPr dirty="0"/>
              <a:t>Manage API costs</a:t>
            </a:r>
          </a:p>
          <a:p>
            <a:r>
              <a:rPr dirty="0"/>
              <a:t>Validate AI outputs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integration in Oracle APEX enables powerful intelligent applications.</a:t>
            </a:r>
          </a:p>
          <a:p>
            <a:r>
              <a:t>Developers can easily leverage OpenAI, OCI Generative AI, and Cohere to enhance functionality.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D19FA-2CF0-677C-B0F9-7106BDA2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3976486"/>
            <a:ext cx="5074920" cy="22411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hlinkClick r:id="rId2"/>
              </a:rPr>
              <a:t>AI Intelligence to Oracle APEX Apps</a:t>
            </a:r>
            <a:endParaRPr lang="it-IT" b="1" dirty="0"/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Pre-requisite:</a:t>
            </a:r>
          </a:p>
          <a:p>
            <a:r>
              <a:rPr lang="en-US" dirty="0">
                <a:hlinkClick r:id="rId3"/>
              </a:rPr>
              <a:t>Oracle APEX AI Integration | </a:t>
            </a:r>
            <a:r>
              <a:rPr lang="en-US" dirty="0" err="1">
                <a:hlinkClick r:id="rId3"/>
              </a:rPr>
              <a:t>ChatGPT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31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schema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1408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6308"/>
            <a:ext cx="82296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29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47725"/>
            <a:ext cx="8229600" cy="29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69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Application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2F432D-5C8C-F52A-8B00-EBB07F1B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1692F9-3319-4292-0325-3DD04DE1A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73" y="1333376"/>
            <a:ext cx="7034975" cy="541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07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Dynamic Action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469" y="1417637"/>
            <a:ext cx="8352427" cy="36711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88" y="2678325"/>
            <a:ext cx="4010585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58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1 (build list of category)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5115B7-38D9-873B-A371-2CBA1540B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18" y="1342518"/>
            <a:ext cx="55245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25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AECA-A0F5-3B12-D8FA-FD8C6426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C49E-ACD4-1642-129B-33B4467C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91" y="846138"/>
            <a:ext cx="3404681" cy="1143000"/>
          </a:xfrm>
        </p:spPr>
        <p:txBody>
          <a:bodyPr>
            <a:noAutofit/>
          </a:bodyPr>
          <a:lstStyle/>
          <a:p>
            <a:r>
              <a:rPr lang="en-US" sz="3600" dirty="0"/>
              <a:t>PL/SQL – step 2 (build GPT JSON request)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3D1FE6-188A-4099-9FB9-AD69F63F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51" y="520538"/>
            <a:ext cx="5464108" cy="581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23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PL/SQL – step 3 (set headers)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08052-1AF7-AE77-D5B7-CC6D095C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58736-FC77-514B-C036-5A31F223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4" y="1600200"/>
            <a:ext cx="8894792" cy="34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93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37362"/>
            <a:ext cx="1634246" cy="775612"/>
          </a:xfrm>
        </p:spPr>
        <p:txBody>
          <a:bodyPr>
            <a:noAutofit/>
          </a:bodyPr>
          <a:lstStyle/>
          <a:p>
            <a:r>
              <a:rPr lang="en-US" sz="3600" dirty="0"/>
              <a:t>PL/SQL –step 4 (call AI API)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E9DF1-CA6B-60E3-4C67-26EA08C6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158" y="642026"/>
            <a:ext cx="6950842" cy="537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41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PL/SQL – step 5 (save response)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ACF1E9-CA77-AEFF-6B07-260F6E693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F43643-CC10-4551-E647-544E256B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26" y="1995740"/>
            <a:ext cx="7686899" cy="28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266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B30B-8027-66A0-78B9-8AA3FB4F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29A5-D679-45AD-AFE2-602665D7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6 (parse GPT response)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B576D6-5C90-2D72-C0D6-8FDA636A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CDB1BE-A80C-3B4C-DF41-8372775E5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19" y="1135704"/>
            <a:ext cx="8247145" cy="527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94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F07B-0E83-C453-641B-7E7E9563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BD14-027D-5CA7-900F-2E9DC6EB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7 (normalize &amp; handling)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CE9EED-75FB-C9D7-DFDE-01AFE460C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236" y="1417638"/>
            <a:ext cx="7372681" cy="50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01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8 (match the product category)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CBF02-FBAA-E5C4-464F-21092931B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CFB00-2BFC-35CE-0C3E-6795ED168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60" y="2782110"/>
            <a:ext cx="4786625" cy="2550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FBC67C-CF3B-13A6-5A90-4CEA9D841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71" y="2389970"/>
            <a:ext cx="3410669" cy="294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31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33E2-C560-EFA2-4DD0-0E2ADE5E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76D7-3E06-5C78-BD77-91A83C86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– step 9 (not match the product category)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46F5E-790D-2E51-507B-CC74E675E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877C0-49CD-6880-2955-8122CE0E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36" y="1519237"/>
            <a:ext cx="76200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812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Finished Product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C7E8B1-A2FE-623F-10BC-4694D55B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CB5CA-2CC8-031E-0B67-0BEBA08F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83" y="1364597"/>
            <a:ext cx="7583234" cy="476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2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1BAF-857A-C7D0-C0D4-6F68DAB7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7BC5C-3901-7235-172A-A1CD75C1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Oracle APEX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F71C46-CFC7-3CE9-2CA6-239098271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079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 – Assisted Product Demo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Thank You…..</a:t>
            </a:r>
          </a:p>
          <a:p>
            <a:r>
              <a:rPr lang="en-US" dirty="0"/>
              <a:t>https://github.com/hansperm/Oracle-Apex---AI-Assisted-Product.git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FDDB1-493C-7DDF-BA08-E6388CE0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96" y="0"/>
            <a:ext cx="3200400" cy="54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1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1519</Words>
  <Application>Microsoft Office PowerPoint</Application>
  <PresentationFormat>On-screen Show (4:3)</PresentationFormat>
  <Paragraphs>212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Integrating AI in Oracle APEX A Developer’s Workshop on OpenAI, OCI GenAI, and Cohere </vt:lpstr>
      <vt:lpstr>Workshop Agenda</vt:lpstr>
      <vt:lpstr>Prerequisites</vt:lpstr>
      <vt:lpstr>API Keys</vt:lpstr>
      <vt:lpstr>Architecture Overview</vt:lpstr>
      <vt:lpstr>Empowering APEX Developers: Integrating AI Capabilities</vt:lpstr>
      <vt:lpstr>Workshop Objectives</vt:lpstr>
      <vt:lpstr>Introduction to AI in Oracle APEX</vt:lpstr>
      <vt:lpstr>Why Integrate AI?</vt:lpstr>
      <vt:lpstr>OpenAI Integration</vt:lpstr>
      <vt:lpstr>Provider 1 - OpenAI</vt:lpstr>
      <vt:lpstr>OCI Generative AI Services</vt:lpstr>
      <vt:lpstr>Provider 2 - OCI Generative AI</vt:lpstr>
      <vt:lpstr>Cohere AI Capabilities</vt:lpstr>
      <vt:lpstr>Practical Use Cases</vt:lpstr>
      <vt:lpstr>Hands-On Demo - Code Snippet</vt:lpstr>
      <vt:lpstr>Use Case – RAG (Retrieval-Augmented Generation) with APEX</vt:lpstr>
      <vt:lpstr>APEX Configuration (Step-by-Step)</vt:lpstr>
      <vt:lpstr>Web Credentials</vt:lpstr>
      <vt:lpstr>Generative AI Services</vt:lpstr>
      <vt:lpstr>Provider 3 - Cohere</vt:lpstr>
      <vt:lpstr>Implementation Methods</vt:lpstr>
      <vt:lpstr>Implementation Methods</vt:lpstr>
      <vt:lpstr>Implementation Methods</vt:lpstr>
      <vt:lpstr>Best Practices</vt:lpstr>
      <vt:lpstr>Conclusion</vt:lpstr>
      <vt:lpstr>Demonstration</vt:lpstr>
      <vt:lpstr>Create schema</vt:lpstr>
      <vt:lpstr>PowerPoint Presentation</vt:lpstr>
      <vt:lpstr>Create an Application</vt:lpstr>
      <vt:lpstr>Create Dynamic Action</vt:lpstr>
      <vt:lpstr>PL/SQL – step 1 (build list of category)</vt:lpstr>
      <vt:lpstr>PL/SQL – step 2 (build GPT JSON request)</vt:lpstr>
      <vt:lpstr>PL/SQL – step 3 (set headers)</vt:lpstr>
      <vt:lpstr>PL/SQL –step 4 (call AI API)</vt:lpstr>
      <vt:lpstr>PL/SQL – step 5 (save response)</vt:lpstr>
      <vt:lpstr>PL/SQL – step 6 (parse GPT response)</vt:lpstr>
      <vt:lpstr>PL/SQL – step 7 (normalize &amp; handling)</vt:lpstr>
      <vt:lpstr>PL/SQL – step 8 (match the product category)</vt:lpstr>
      <vt:lpstr>PL/SQL – step 9 (not match the product category)</vt:lpstr>
      <vt:lpstr>Finished Product</vt:lpstr>
      <vt:lpstr>Oracle APEX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AI in Oracle APEX A Developer’s Workshop on OpenAI, OCI GenAI, and Cohere </dc:title>
  <dc:subject/>
  <dc:creator/>
  <cp:keywords/>
  <dc:description>generated using python-pptx</dc:description>
  <cp:lastModifiedBy>Hansel Delos Santos</cp:lastModifiedBy>
  <cp:revision>50</cp:revision>
  <dcterms:created xsi:type="dcterms:W3CDTF">2013-01-27T09:14:16Z</dcterms:created>
  <dcterms:modified xsi:type="dcterms:W3CDTF">2026-04-27T09:14:17Z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2026-03-11T07:48:52Z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dc2b733b-a224-4576-9839-d0ca720b0032</vt:lpwstr>
  </property>
  <property fmtid="{D5CDD505-2E9C-101B-9397-08002B2CF9AE}" pid="7" name="MSIP_Label_defa4170-0d19-0005-0004-bc88714345d2_ActionId">
    <vt:lpwstr>6eeb9c2c-9f99-446c-a007-8f6dc0490b1a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